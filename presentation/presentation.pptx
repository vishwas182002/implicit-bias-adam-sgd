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Implicit Bias of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vs. SGD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Geometry, Simplicity Bias, and Spurious Correlations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0" y="3749040"/>
            <a:ext cx="3657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Vishwas K.  |  APPM 5490: Theory of Machine Learning  |  Spring 2026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Stephen Becker  |  University of Colorado Boulder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overparameterized models generalize well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explicit regularization?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E293B"/>
                </a:solidFill>
              </a:rPr>
              <a:t>The optimizer itself acts as an implicit regularizer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Different optimizers → Different solutions → Different generalization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GD on logistic loss → converges to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166AC"/>
                </a:solidFill>
              </a:rPr>
              <a:t>ℓ₂-max-margin (SVM)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E293B"/>
                </a:solidFill>
              </a:rPr>
              <a:t>Adam on logistic loss → converges to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2182B"/>
                </a:solidFill>
              </a:rPr>
              <a:t>ℓ∞-max-margin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66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1: GD → ℓ₂-Max-Margin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Soudry et al. (2018)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separable data, GD on logistic loss:   θ(t) / ‖θ(t)‖₂  →  w*SVM / ‖w*SVM‖₂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Mechanism (4 Steps)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2166A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finite minimizer exists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724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loss L(θ) → 0 but never reaches 0, so ‖θ(t)‖ → 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2166A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 dominate gradient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273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∇L ∝ Σ xᵢyᵢ exp(−yᵢθᵀxᵢ) — smallest margin samples dominate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2166A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θ(t) = α(t)·wSVM + ρ(t)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822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α(t) = O(log t) grows unboundedly, ρ(t) stays bounded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2166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370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converges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4370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θ(t)/‖θ(t)‖ → wSVM/‖wSVM‖ as t → ∞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Theorem 2: Adam → ℓ∞-Max-Margin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Zou, Cao (2024)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solidFill>
            <a:srgbClr val="FAEB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Full-batch Adam on logistic loss:   θ(t) / ‖θ(t)‖∞  →  w*∞ / ‖w*∞‖∞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 Steepest Descent Framework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840480" cy="201168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θ ← θ − η∇L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Steepest descent in ℓ₂ norm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argmin{‖d‖₂ ≤ 1} ⟨∇L, d⟩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Converges to ℓ₂-max-margin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840480" cy="2011680"/>
          </a:xfrm>
          <a:prstGeom prst="rect">
            <a:avLst/>
          </a:prstGeom>
          <a:solidFill>
            <a:srgbClr val="FAEBE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1546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θⱼ ← θⱼ − η · gⱼ/√vⱼ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Sign descent (steepest in ℓ∞)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argmin{‖d‖∞ ≤ 1} ⟨∇L, d⟩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Converges to ℓ∞-max-margin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Different Margins Matter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219456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ℓ₂-Max-Margin (GD)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weight on dominant features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geometry: circular in weight space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effective support vectors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Simpler decision boundary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2194560"/>
          </a:xfrm>
          <a:prstGeom prst="rect">
            <a:avLst/>
          </a:prstGeom>
          <a:solidFill>
            <a:srgbClr val="FAEBEB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ℓ∞-Max-Margin (Adam)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weight across all features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geometry: cubic in weight space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contribute to decision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Richer decision boundary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 to Generalization Bounds (Rademacher)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Gen. error ≤ O( R / γ√n )     where R = data radius (dual norm), γ = margin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ℓ₂ margin: R = max‖xᵢ‖₂     |     For ℓ∞ margin: R = max‖xᵢ‖₁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bound is tighter depends on data geometry — this is when Adam beats GD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Simplicity Bias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Vasudeva et al. (NeurIPS 2025)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learns the simplest feature that fits the data. Adam learns richer features.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two-layer ReLU net f(W;x) = aᵀσ(Wx):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GD: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gradient averages over data structure → weight matrix collapses to low rank → linear boundary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Adam: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coordinate-wise normalization prevents collapse → preserves multiple feature directions → nonlinear boundary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latches onto spurious shortcuts (simple but wrong). Adam resists this.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1: Margin Convergence Verification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</a:rPr>
              <a:t>Can we empirically verify that GD → ℓ₂ and Adam → ℓ∞?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Setup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500 samples in ℝ²⁰, linearly separable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1 strong feature + 7 weak features + 12 noise features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Exact ℓ₂-max-margin (QP) and ℓ∞-max-margin (LP) via cvxpy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50,000 steps of GD and Adam on logistic loss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5 dataset seeds for robustness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cosine similarity between iterates and exact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1: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3840480" cy="164592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→ ℓ₂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66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0.990 ± 0.003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3840480" cy="1645920"/>
          </a:xfrm>
          <a:prstGeom prst="rect">
            <a:avLst/>
          </a:prstGeom>
          <a:solidFill>
            <a:srgbClr val="FAEBE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868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→ ℓ∞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0.988 ± 0.003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3776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Cross-alignment (wrong direction): </a:t>
            </a:r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GD→ℓ∞ = 0.750    Adam→ℓ₂ = 0.846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0896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3063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confirmed: Each optimizer converges to its predicted margin geometry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verification: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‖θ(t)‖₂ grows as O(log t) for GD — confirmed with R² fit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5 independent dataset seeds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2: Simplicity Bias on MNIST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097280" y="182880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5A623"/>
                </a:solidFill>
              </a:rPr>
              <a:t>Does the margin difference cause real-world performance gaps?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Setup: MNIST with a Spurious Colored Patch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Binary task: digits 0-4 vs 5-9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10×10 colored patch in corner: RED for class 0, GREEN for class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Training: 99% patch-label correlation (patch = easy shortcut)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OOD test: 1% correlation (shortcut FAILS)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feature: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digit shape (complex)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Spurious feature: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patch color (simple)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2: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3840480" cy="182880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66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Drop: 30.3%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reliance: 6.4%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840480" cy="1828800"/>
          </a:xfrm>
          <a:prstGeom prst="rect">
            <a:avLst/>
          </a:prstGeom>
          <a:solidFill>
            <a:srgbClr val="FAEBE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868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143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Accuracy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21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Drop: 13.3%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reliance: 1.9%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solidFill>
            <a:srgbClr val="E8F5E9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80160" y="2926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relies 3× more on the spurious patch. Adam learns digit shape.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SGD's ℓ₂ implicit bias concentrates on the simplest predictive feature (color patch).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Adam's ℓ∞ implicit bias spreads attention across features, learning both patch AND digit shape.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shortcut fails (OOD), Adam's richer representation is more robust.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828800" cy="14630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descent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77440" y="1097280"/>
            <a:ext cx="1828800" cy="1463040"/>
          </a:xfrm>
          <a:prstGeom prst="rect">
            <a:avLst/>
          </a:prstGeom>
          <a:solidFill>
            <a:srgbClr val="2166AC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7744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→ ℓ₂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→ ℓ∞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1828800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583680" y="1097280"/>
            <a:ext cx="1828800" cy="1463040"/>
          </a:xfrm>
          <a:prstGeom prst="rect">
            <a:avLst/>
          </a:prstGeom>
          <a:solidFill>
            <a:srgbClr val="B2182B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(Margin Convergence):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GD→ℓ₂ = 0.990, Adam→ℓ∞ = 0.988. Theory confirmed.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(MNIST Spurious Patch):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OOD = 69.2%, Adam OOD = 86.5%. Adam resists shortcuts.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choice is not just about convergence speed — it determines which solution you find.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914400" y="182880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and Adam converge to fundamentally different solutions — ℓ₂ vs ℓ∞ max-margin — even on the same data and architecture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margin difference causes different feature learning: GD's simplicity bias latches onto easy shortcuts, Adam learns richer representations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consequence: on data with spurious correlations, Adam is more robust because it doesn't over-rely on the simplest available feature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is not just a hyperparameter —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design choice that shapes what your model learns.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|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Implicit Bias of Adam vs SGD</dc:title>
  <dc:subject>PptxGenJS Presentation</dc:subject>
  <dc:creator>Vishwas K.</dc:creator>
  <cp:lastModifiedBy>Vishwas K.</cp:lastModifiedBy>
  <cp:revision>1</cp:revision>
  <dcterms:created xsi:type="dcterms:W3CDTF">2026-04-25T04:43:38Z</dcterms:created>
  <dcterms:modified xsi:type="dcterms:W3CDTF">2026-04-25T04:43:38Z</dcterms:modified>
</cp:coreProperties>
</file>